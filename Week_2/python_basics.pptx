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cd161fe-3937-e883-c677-7183b22c9589}">
          <p14:sldIdLst>
            <p14:sldId id="256"/>
            <p14:sldId id="257"/>
          </p14:sldIdLst>
        </p14:section>
        <p14:section name="Data types" id="{635dca13-d26c-a4b3-e1c2-ff0a414219c2}">
          <p14:sldIdLst>
            <p14:sldId id="258"/>
            <p14:sldId id="259"/>
          </p14:sldIdLst>
        </p14:section>
        <p14:section name="Functions" id="{0cf73306-f1e4-2e1e-757a-7fe676b5a415}">
          <p14:sldIdLst>
            <p14:sldId id="260"/>
            <p14:sldId id="261"/>
          </p14:sldIdLst>
        </p14:section>
        <p14:section name="Classes" id="{c7e3ad22-4b80-7ac6-5da3-2cd0d7cb0e9d}">
          <p14:sldIdLst>
            <p14:sldId id="262"/>
            <p14:sldId id="263"/>
            <p14:sldId id="264"/>
          </p14:sldIdLst>
        </p14:section>
        <p14:section name="Packages" id="{abd8390d-95bf-1b7e-6908-095447527cb0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Basics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468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Data types, functions, classes and packages: what they are and where they are used</a:t>
            </a:r>
            <a:endParaRPr lang="en-US" sz="2000" dirty="0"/>
          </a:p>
        </p:txBody>
      </p:sp>
      <p:sp>
        <p:nvSpPr>
          <p:cNvPr id="4" name="File list"/>
          <p:cNvSpPr txBox="1"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data_types.py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math_utils.py + main.py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classes_demo.py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shapes/ (our own package)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project at a glance</a:t>
            </a:r>
            <a:endParaRPr lang="en-US" sz="3200" dirty="0"/>
          </a:p>
        </p:txBody>
      </p:sp>
      <p:sp>
        <p:nvSpPr>
          <p:cNvPr id="3" name="Part 1 bg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rt 1 title"/>
          <p:cNvSpPr txBox="1"/>
          <p:nvPr/>
        </p:nvSpPr>
        <p:spPr>
          <a:xfrm>
            <a:off x="64008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data_types.py</a:t>
            </a:r>
            <a:endParaRPr lang="en-US" sz="1600" dirty="0"/>
          </a:p>
        </p:txBody>
      </p:sp>
      <p:sp>
        <p:nvSpPr>
          <p:cNvPr id="5" name="Part 1 body"/>
          <p:cNvSpPr txBox="1"/>
          <p:nvPr/>
        </p:nvSpPr>
        <p:spPr>
          <a:xfrm>
            <a:off x="640080" y="1755648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One-line examples of every basic data type.</a:t>
            </a:r>
            <a:endParaRPr lang="en-US" sz="1400" dirty="0"/>
          </a:p>
        </p:txBody>
      </p:sp>
      <p:sp>
        <p:nvSpPr>
          <p:cNvPr id="6" name="Badge 1 circle"/>
          <p:cNvSpPr/>
          <p:nvPr/>
        </p:nvSpPr>
        <p:spPr>
          <a:xfrm>
            <a:off x="3886200" y="13716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Badge 1 num"/>
          <p:cNvSpPr txBox="1"/>
          <p:nvPr/>
        </p:nvSpPr>
        <p:spPr>
          <a:xfrm>
            <a:off x="3886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Part 2 bg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rt 2 title"/>
          <p:cNvSpPr txBox="1"/>
          <p:nvPr/>
        </p:nvSpPr>
        <p:spPr>
          <a:xfrm>
            <a:off x="484632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math_utils.py + main.py</a:t>
            </a:r>
            <a:endParaRPr lang="en-US" sz="1600" dirty="0"/>
          </a:p>
        </p:txBody>
      </p:sp>
      <p:sp>
        <p:nvSpPr>
          <p:cNvPr id="10" name="Part 2 body"/>
          <p:cNvSpPr txBox="1"/>
          <p:nvPr/>
        </p:nvSpPr>
        <p:spPr>
          <a:xfrm>
            <a:off x="4846320" y="1755648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custom function, defined in one file and run from another.</a:t>
            </a:r>
            <a:endParaRPr lang="en-US" sz="1400" dirty="0"/>
          </a:p>
        </p:txBody>
      </p:sp>
      <p:sp>
        <p:nvSpPr>
          <p:cNvPr id="11" name="Badge 2 circle"/>
          <p:cNvSpPr/>
          <p:nvPr/>
        </p:nvSpPr>
        <p:spPr>
          <a:xfrm>
            <a:off x="8092440" y="13716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 2 num"/>
          <p:cNvSpPr txBox="1"/>
          <p:nvPr/>
        </p:nvSpPr>
        <p:spPr>
          <a:xfrm>
            <a:off x="80924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Part 3 bg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rt 3 title"/>
          <p:cNvSpPr txBox="1"/>
          <p:nvPr/>
        </p:nvSpPr>
        <p:spPr>
          <a:xfrm>
            <a:off x="640080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classes_demo.py</a:t>
            </a:r>
            <a:endParaRPr lang="en-US" sz="1600" dirty="0"/>
          </a:p>
        </p:txBody>
      </p:sp>
      <p:sp>
        <p:nvSpPr>
          <p:cNvPr id="15" name="Part 3 body"/>
          <p:cNvSpPr txBox="1"/>
          <p:nvPr/>
        </p:nvSpPr>
        <p:spPr>
          <a:xfrm>
            <a:off x="640080" y="3447288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Classes, inheritance and magic methods.</a:t>
            </a:r>
            <a:endParaRPr lang="en-US" sz="1400" dirty="0"/>
          </a:p>
        </p:txBody>
      </p:sp>
      <p:sp>
        <p:nvSpPr>
          <p:cNvPr id="16" name="Badge 3 circle"/>
          <p:cNvSpPr/>
          <p:nvPr/>
        </p:nvSpPr>
        <p:spPr>
          <a:xfrm>
            <a:off x="3886200" y="30632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 3 num"/>
          <p:cNvSpPr txBox="1"/>
          <p:nvPr/>
        </p:nvSpPr>
        <p:spPr>
          <a:xfrm>
            <a:off x="38862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Part 4 bg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rt 4 title"/>
          <p:cNvSpPr txBox="1"/>
          <p:nvPr/>
        </p:nvSpPr>
        <p:spPr>
          <a:xfrm>
            <a:off x="4846320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shapes/ package</a:t>
            </a:r>
            <a:endParaRPr lang="en-US" sz="1600" dirty="0"/>
          </a:p>
        </p:txBody>
      </p:sp>
      <p:sp>
        <p:nvSpPr>
          <p:cNvPr id="20" name="Part 4 body"/>
          <p:cNvSpPr txBox="1"/>
          <p:nvPr/>
        </p:nvSpPr>
        <p:spPr>
          <a:xfrm>
            <a:off x="4846320" y="3447288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Our own importable package with two modules.</a:t>
            </a:r>
            <a:endParaRPr lang="en-US" sz="1400" dirty="0"/>
          </a:p>
        </p:txBody>
      </p:sp>
      <p:sp>
        <p:nvSpPr>
          <p:cNvPr id="21" name="Badge 4 circle"/>
          <p:cNvSpPr/>
          <p:nvPr/>
        </p:nvSpPr>
        <p:spPr>
          <a:xfrm>
            <a:off x="8092440" y="30632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Badge 4 num"/>
          <p:cNvSpPr txBox="1"/>
          <p:nvPr/>
        </p:nvSpPr>
        <p:spPr>
          <a:xfrm>
            <a:off x="80924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types: what kind of value is it?</a:t>
            </a:r>
            <a:endParaRPr lang="en-US" sz="3200" dirty="0"/>
          </a:p>
        </p:txBody>
      </p:sp>
      <p:graphicFrame>
        <p:nvGraphicFramePr>
          <p:cNvPr id="4" name="Data typ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4297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int, float, complex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Whole, decimal and complex numbers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sequence of characters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Logic / empty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bool, None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True or False; 'no value'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Sequences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list, tuple, range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Ordered; list is changeable, tuple is not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set, frozenset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Unordered, unique items 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Mapping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Key → value pairs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bytes, bytearray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Raw bytes, immutable or mutable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ble caption"/>
          <p:cNvSpPr txBox="1"/>
          <p:nvPr/>
        </p:nvSpPr>
        <p:spPr>
          <a:xfrm>
            <a:off x="45720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 = [1, 2, 3]   my_tuple = (10, 20)   my_dict = {"a": 1}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types in real life</a:t>
            </a:r>
            <a:endParaRPr lang="en-US" sz="3200" dirty="0"/>
          </a:p>
        </p:txBody>
      </p:sp>
      <p:sp>
        <p:nvSpPr>
          <p:cNvPr id="3" name="Example 1 bg"/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xample 1 title"/>
          <p:cNvSpPr txBox="1"/>
          <p:nvPr/>
        </p:nvSpPr>
        <p:spPr>
          <a:xfrm>
            <a:off x="640080" y="1344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Numbers</a:t>
            </a:r>
            <a:endParaRPr lang="en-US" sz="1600" dirty="0"/>
          </a:p>
        </p:txBody>
      </p:sp>
      <p:sp>
        <p:nvSpPr>
          <p:cNvPr id="5" name="Example 1 body"/>
          <p:cNvSpPr txBox="1"/>
          <p:nvPr/>
        </p:nvSpPr>
        <p:spPr>
          <a:xfrm>
            <a:off x="640080" y="1709928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Prices, temperatures, scores; complex numbers in signal processing.</a:t>
            </a:r>
            <a:endParaRPr lang="en-US" sz="1400" dirty="0"/>
          </a:p>
        </p:txBody>
      </p:sp>
      <p:sp>
        <p:nvSpPr>
          <p:cNvPr id="6" name="Example 2 bg"/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xample 2 title"/>
          <p:cNvSpPr txBox="1"/>
          <p:nvPr/>
        </p:nvSpPr>
        <p:spPr>
          <a:xfrm>
            <a:off x="3429000" y="1344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Text</a:t>
            </a:r>
            <a:endParaRPr lang="en-US" sz="1600" dirty="0"/>
          </a:p>
        </p:txBody>
      </p:sp>
      <p:sp>
        <p:nvSpPr>
          <p:cNvPr id="8" name="Example 2 body"/>
          <p:cNvSpPr txBox="1"/>
          <p:nvPr/>
        </p:nvSpPr>
        <p:spPr>
          <a:xfrm>
            <a:off x="3429000" y="1709928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Names, emails and chat messages in any app.</a:t>
            </a:r>
            <a:endParaRPr lang="en-US" sz="1400" dirty="0"/>
          </a:p>
        </p:txBody>
      </p:sp>
      <p:sp>
        <p:nvSpPr>
          <p:cNvPr id="9" name="Example 3 bg"/>
          <p:cNvSpPr/>
          <p:nvPr/>
        </p:nvSpPr>
        <p:spPr>
          <a:xfrm>
            <a:off x="603504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xample 3 title"/>
          <p:cNvSpPr txBox="1"/>
          <p:nvPr/>
        </p:nvSpPr>
        <p:spPr>
          <a:xfrm>
            <a:off x="6217920" y="1344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Bool and None</a:t>
            </a:r>
            <a:endParaRPr lang="en-US" sz="1600" dirty="0"/>
          </a:p>
        </p:txBody>
      </p:sp>
      <p:sp>
        <p:nvSpPr>
          <p:cNvPr id="11" name="Example 3 body"/>
          <p:cNvSpPr txBox="1"/>
          <p:nvPr/>
        </p:nvSpPr>
        <p:spPr>
          <a:xfrm>
            <a:off x="6217920" y="1709928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the user logged in? A form field not filled yet is None.</a:t>
            </a:r>
            <a:endParaRPr lang="en-US" sz="1400" dirty="0"/>
          </a:p>
        </p:txBody>
      </p:sp>
      <p:sp>
        <p:nvSpPr>
          <p:cNvPr id="12" name="Example 4 bg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xample 4 title"/>
          <p:cNvSpPr txBox="1"/>
          <p:nvPr/>
        </p:nvSpPr>
        <p:spPr>
          <a:xfrm>
            <a:off x="640080" y="3081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Lists and tuples</a:t>
            </a:r>
            <a:endParaRPr lang="en-US" sz="1600" dirty="0"/>
          </a:p>
        </p:txBody>
      </p:sp>
      <p:sp>
        <p:nvSpPr>
          <p:cNvPr id="14" name="Example 4 body"/>
          <p:cNvSpPr txBox="1"/>
          <p:nvPr/>
        </p:nvSpPr>
        <p:spPr>
          <a:xfrm>
            <a:off x="640080" y="3447288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List: shopping cart. Tuple: a fixed GPS point (lat, lon).</a:t>
            </a:r>
            <a:endParaRPr lang="en-US" sz="1400" dirty="0"/>
          </a:p>
        </p:txBody>
      </p:sp>
      <p:sp>
        <p:nvSpPr>
          <p:cNvPr id="15" name="Example 5 bg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xample 5 title"/>
          <p:cNvSpPr txBox="1"/>
          <p:nvPr/>
        </p:nvSpPr>
        <p:spPr>
          <a:xfrm>
            <a:off x="3429000" y="3081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Sets and dicts</a:t>
            </a:r>
            <a:endParaRPr lang="en-US" sz="1600" dirty="0"/>
          </a:p>
        </p:txBody>
      </p:sp>
      <p:sp>
        <p:nvSpPr>
          <p:cNvPr id="17" name="Example 5 body"/>
          <p:cNvSpPr txBox="1"/>
          <p:nvPr/>
        </p:nvSpPr>
        <p:spPr>
          <a:xfrm>
            <a:off x="3429000" y="3447288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Set: unique visitors. Dict: a user profile or JSON from a web API.</a:t>
            </a:r>
            <a:endParaRPr lang="en-US" sz="1400" dirty="0"/>
          </a:p>
        </p:txBody>
      </p:sp>
      <p:sp>
        <p:nvSpPr>
          <p:cNvPr id="18" name="Example 6 bg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Example 6 title"/>
          <p:cNvSpPr txBox="1"/>
          <p:nvPr/>
        </p:nvSpPr>
        <p:spPr>
          <a:xfrm>
            <a:off x="6217920" y="3081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Bytes</a:t>
            </a:r>
            <a:endParaRPr lang="en-US" sz="1600" dirty="0"/>
          </a:p>
        </p:txBody>
      </p:sp>
      <p:sp>
        <p:nvSpPr>
          <p:cNvPr id="20" name="Example 6 body"/>
          <p:cNvSpPr txBox="1"/>
          <p:nvPr/>
        </p:nvSpPr>
        <p:spPr>
          <a:xfrm>
            <a:off x="6217920" y="3447288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Images, files and network data are all raw bytes.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Functions: reusable formulas</a:t>
            </a:r>
            <a:endParaRPr lang="en-US" sz="3200" dirty="0"/>
          </a:p>
        </p:txBody>
      </p:sp>
      <p:sp>
        <p:nvSpPr>
          <p:cNvPr id="3" name="Def head"/>
          <p:cNvSpPr txBox="1"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Definition</a:t>
            </a:r>
            <a:endParaRPr lang="en-US" sz="1800" dirty="0"/>
          </a:p>
        </p:txBody>
      </p:sp>
      <p:sp>
        <p:nvSpPr>
          <p:cNvPr id="4" name="Def text"/>
          <p:cNvSpPr txBox="1"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function is a named block of code that takes inputs (parameters), does a job and returns a result. Write once, call many times.</a:t>
            </a:r>
            <a:endParaRPr lang="en-US" sz="1400" dirty="0"/>
          </a:p>
        </p:txBody>
      </p:sp>
      <p:sp>
        <p:nvSpPr>
          <p:cNvPr id="5" name="Use head"/>
          <p:cNvSpPr txBox="1"/>
          <p:nvPr/>
        </p:nvSpPr>
        <p:spPr>
          <a:xfrm>
            <a:off x="45720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it is used</a:t>
            </a:r>
            <a:endParaRPr lang="en-US" sz="1800" dirty="0"/>
          </a:p>
        </p:txBody>
      </p:sp>
      <p:sp>
        <p:nvSpPr>
          <p:cNvPr id="6" name="Use bullets"/>
          <p:cNvSpPr txBox="1"/>
          <p:nvPr/>
        </p:nvSpPr>
        <p:spPr>
          <a:xfrm>
            <a:off x="457200" y="30175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Finance apps: compound interest, loan EMI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Science: unit conversions, physics formulas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app: checkout totals, tax and discounts</a:t>
            </a:r>
            <a:endParaRPr lang="en-US" sz="1400" dirty="0"/>
          </a:p>
        </p:txBody>
      </p:sp>
      <p:sp>
        <p:nvSpPr>
          <p:cNvPr id="7" name="Function code bg"/>
          <p:cNvSpPr/>
          <p:nvPr/>
        </p:nvSpPr>
        <p:spPr>
          <a:xfrm>
            <a:off x="4572000" y="1188720"/>
            <a:ext cx="4114800" cy="246888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Function code"/>
          <p:cNvSpPr txBox="1"/>
          <p:nvPr/>
        </p:nvSpPr>
        <p:spPr>
          <a:xfrm>
            <a:off x="4709160" y="12801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math_utils.py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compound_interest(principal,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rate, years, times_per_year=1):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principal * (1 + rate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times_per_year) **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times_per_year * years)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= P(1 + r/n)^(n*t)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Modules: calling it from main.py</a:t>
            </a:r>
            <a:endParaRPr lang="en-US" sz="3200" dirty="0"/>
          </a:p>
        </p:txBody>
      </p:sp>
      <p:sp>
        <p:nvSpPr>
          <p:cNvPr id="3" name="Module code bg"/>
          <p:cNvSpPr/>
          <p:nvPr/>
        </p:nvSpPr>
        <p:spPr>
          <a:xfrm>
            <a:off x="457200" y="1234440"/>
            <a:ext cx="329184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Module code"/>
          <p:cNvSpPr txBox="1"/>
          <p:nvPr/>
        </p:nvSpPr>
        <p:spPr>
          <a:xfrm>
            <a:off x="594360" y="1325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math_utils.py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compound_interest(...):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5" name="Import arrow"/>
          <p:cNvSpPr/>
          <p:nvPr/>
        </p:nvSpPr>
        <p:spPr>
          <a:xfrm>
            <a:off x="3931920" y="1554480"/>
            <a:ext cx="100584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Arrow label"/>
          <p:cNvSpPr txBox="1"/>
          <p:nvPr/>
        </p:nvSpPr>
        <p:spPr>
          <a:xfrm>
            <a:off x="393192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import</a:t>
            </a:r>
            <a:endParaRPr lang="en-US" sz="1200" dirty="0"/>
          </a:p>
        </p:txBody>
      </p:sp>
      <p:sp>
        <p:nvSpPr>
          <p:cNvPr id="7" name="Main code bg"/>
          <p:cNvSpPr/>
          <p:nvPr/>
        </p:nvSpPr>
        <p:spPr>
          <a:xfrm>
            <a:off x="5120640" y="1234440"/>
            <a:ext cx="356616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Main code"/>
          <p:cNvSpPr txBox="1"/>
          <p:nvPr/>
        </p:nvSpPr>
        <p:spPr>
          <a:xfrm>
            <a:off x="5257800" y="1325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math_utils import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compound_interest</a:t>
            </a:r>
            <a:endParaRPr lang="en-US" sz="1200" dirty="0"/>
          </a:p>
        </p:txBody>
      </p:sp>
      <p:sp>
        <p:nvSpPr>
          <p:cNvPr id="9" name="Mod head"/>
          <p:cNvSpPr txBox="1"/>
          <p:nvPr/>
        </p:nvSpPr>
        <p:spPr>
          <a:xfrm>
            <a:off x="4572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Definition</a:t>
            </a:r>
            <a:endParaRPr lang="en-US" sz="1800" dirty="0"/>
          </a:p>
        </p:txBody>
      </p:sp>
      <p:sp>
        <p:nvSpPr>
          <p:cNvPr id="10" name="Mod text"/>
          <p:cNvSpPr txBox="1"/>
          <p:nvPr/>
        </p:nvSpPr>
        <p:spPr>
          <a:xfrm>
            <a:off x="457200" y="29718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module is any .py file. Import it to reuse its functions. The check if __name__ == "__main__" runs code only when the file is run directly.</a:t>
            </a:r>
            <a:endParaRPr lang="en-US" sz="1400" dirty="0"/>
          </a:p>
        </p:txBody>
      </p:sp>
      <p:sp>
        <p:nvSpPr>
          <p:cNvPr id="11" name="Mod use head"/>
          <p:cNvSpPr txBox="1"/>
          <p:nvPr/>
        </p:nvSpPr>
        <p:spPr>
          <a:xfrm>
            <a:off x="475488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it is used</a:t>
            </a:r>
            <a:endParaRPr lang="en-US" sz="1800" dirty="0"/>
          </a:p>
        </p:txBody>
      </p:sp>
      <p:sp>
        <p:nvSpPr>
          <p:cNvPr id="12" name="Mod bullets"/>
          <p:cNvSpPr txBox="1"/>
          <p:nvPr/>
        </p:nvSpPr>
        <p:spPr>
          <a:xfrm>
            <a:off x="4754880" y="29718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helpers in a utils 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Split big programs across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main.py is the entry point that starts the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Classes: blueprints for objects</a:t>
            </a:r>
            <a:endParaRPr lang="en-US" sz="3200" dirty="0"/>
          </a:p>
        </p:txBody>
      </p:sp>
      <p:sp>
        <p:nvSpPr>
          <p:cNvPr id="3" name="Class head"/>
          <p:cNvSpPr txBox="1"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Definition</a:t>
            </a:r>
            <a:endParaRPr lang="en-US" sz="1800" dirty="0"/>
          </a:p>
        </p:txBody>
      </p:sp>
      <p:sp>
        <p:nvSpPr>
          <p:cNvPr id="4" name="Class text"/>
          <p:cNvSpPr txBox="1"/>
          <p:nvPr/>
        </p:nvSpPr>
        <p:spPr>
          <a:xfrm>
            <a:off x="45720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class bundles data (attributes) and behaviour (methods). Each object created from it is an instance.</a:t>
            </a:r>
            <a:endParaRPr lang="en-US" sz="1400" dirty="0"/>
          </a:p>
        </p:txBody>
      </p:sp>
      <p:sp>
        <p:nvSpPr>
          <p:cNvPr id="5" name="Class use head"/>
          <p:cNvSpPr txBox="1"/>
          <p:nvPr/>
        </p:nvSpPr>
        <p:spPr>
          <a:xfrm>
            <a:off x="45720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it is used</a:t>
            </a:r>
            <a:endParaRPr lang="en-US" sz="1800" dirty="0"/>
          </a:p>
        </p:txBody>
      </p:sp>
      <p:sp>
        <p:nvSpPr>
          <p:cNvPr id="6" name="Class bullets"/>
          <p:cNvSpPr txBox="1"/>
          <p:nvPr/>
        </p:nvSpPr>
        <p:spPr>
          <a:xfrm>
            <a:off x="457200" y="29260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User or Order in a web shop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Player or Enemy in a game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Pandas DataFrame is a class</a:t>
            </a:r>
            <a:endParaRPr lang="en-US" sz="1400" dirty="0"/>
          </a:p>
        </p:txBody>
      </p:sp>
      <p:sp>
        <p:nvSpPr>
          <p:cNvPr id="7" name="Class code bg"/>
          <p:cNvSpPr/>
          <p:nvPr/>
        </p:nvSpPr>
        <p:spPr>
          <a:xfrm>
            <a:off x="4572000" y="1188720"/>
            <a:ext cx="4114800" cy="246888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lass code"/>
          <p:cNvSpPr txBox="1"/>
          <p:nvPr/>
        </p:nvSpPr>
        <p:spPr>
          <a:xfrm>
            <a:off x="4709160" y="12801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= 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f"{self.name}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makes a sound"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Animal("Bruno", 3)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Inheritance: child reuses parent</a:t>
            </a:r>
            <a:endParaRPr lang="en-US" sz="3200" dirty="0"/>
          </a:p>
        </p:txBody>
      </p:sp>
      <p:sp>
        <p:nvSpPr>
          <p:cNvPr id="3" name="Parent box"/>
          <p:cNvSpPr/>
          <p:nvPr/>
        </p:nvSpPr>
        <p:spPr>
          <a:xfrm>
            <a:off x="1280160" y="128016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arent text"/>
          <p:cNvSpPr txBox="1"/>
          <p:nvPr/>
        </p:nvSpPr>
        <p:spPr>
          <a:xfrm>
            <a:off x="128016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Animal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parent: name, age, speak()</a:t>
            </a:r>
            <a:endParaRPr lang="en-US" sz="1600" dirty="0"/>
          </a:p>
        </p:txBody>
      </p:sp>
      <p:sp>
        <p:nvSpPr>
          <p:cNvPr id="5" name="Dog box"/>
          <p:cNvSpPr/>
          <p:nvPr/>
        </p:nvSpPr>
        <p:spPr>
          <a:xfrm>
            <a:off x="457200" y="3108960"/>
            <a:ext cx="19202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Dog text"/>
          <p:cNvSpPr txBox="1"/>
          <p:nvPr/>
        </p:nvSpPr>
        <p:spPr>
          <a:xfrm>
            <a:off x="45720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adds breed, new speak()</a:t>
            </a:r>
            <a:endParaRPr lang="en-US" sz="1600" dirty="0"/>
          </a:p>
        </p:txBody>
      </p:sp>
      <p:sp>
        <p:nvSpPr>
          <p:cNvPr id="7" name="Cat box"/>
          <p:cNvSpPr/>
          <p:nvPr/>
        </p:nvSpPr>
        <p:spPr>
          <a:xfrm>
            <a:off x="2651760" y="3108960"/>
            <a:ext cx="19202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at text"/>
          <p:cNvSpPr txBox="1"/>
          <p:nvPr/>
        </p:nvSpPr>
        <p:spPr>
          <a:xfrm>
            <a:off x="265176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new speak()</a:t>
            </a:r>
            <a:endParaRPr lang="en-US" sz="1600" dirty="0"/>
          </a:p>
        </p:txBody>
      </p:sp>
      <p:sp>
        <p:nvSpPr>
          <p:cNvPr id="9" name="Line Dog"/>
          <p:cNvSpPr/>
          <p:nvPr/>
        </p:nvSpPr>
        <p:spPr>
          <a:xfrm flipH="1">
            <a:off x="1417320" y="2103120"/>
            <a:ext cx="960120" cy="10058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Line Cat"/>
          <p:cNvSpPr/>
          <p:nvPr/>
        </p:nvSpPr>
        <p:spPr>
          <a:xfrm>
            <a:off x="2377440" y="2103120"/>
            <a:ext cx="320040" cy="10058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Rules head"/>
          <p:cNvSpPr txBox="1"/>
          <p:nvPr/>
        </p:nvSpPr>
        <p:spPr>
          <a:xfrm>
            <a:off x="51206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Rules</a:t>
            </a:r>
            <a:endParaRPr lang="en-US" sz="1800" dirty="0"/>
          </a:p>
        </p:txBody>
      </p:sp>
      <p:sp>
        <p:nvSpPr>
          <p:cNvPr id="12" name="Rules bullets"/>
          <p:cNvSpPr txBox="1"/>
          <p:nvPr/>
        </p:nvSpPr>
        <p:spPr>
          <a:xfrm>
            <a:off x="5120640" y="15544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 Dog(Animal) inherits everything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super().__init__() runs the parent setup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Redefining speak() is overriding</a:t>
            </a:r>
            <a:endParaRPr lang="en-US" sz="1400" dirty="0"/>
          </a:p>
        </p:txBody>
      </p:sp>
      <p:sp>
        <p:nvSpPr>
          <p:cNvPr id="13" name="Inh use head"/>
          <p:cNvSpPr txBox="1"/>
          <p:nvPr/>
        </p:nvSpPr>
        <p:spPr>
          <a:xfrm>
            <a:off x="51206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it is used</a:t>
            </a:r>
            <a:endParaRPr lang="en-US" sz="1800" dirty="0"/>
          </a:p>
        </p:txBody>
      </p:sp>
      <p:sp>
        <p:nvSpPr>
          <p:cNvPr id="14" name="Inh use bullets"/>
          <p:cNvSpPr txBox="1"/>
          <p:nvPr/>
        </p:nvSpPr>
        <p:spPr>
          <a:xfrm>
            <a:off x="5120640" y="3429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Errors: ValueError is an Exception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Django models, GUI widgets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Magic methods: built-in hooks</a:t>
            </a:r>
            <a:endParaRPr lang="en-US" sz="3200" dirty="0"/>
          </a:p>
        </p:txBody>
      </p:sp>
      <p:sp>
        <p:nvSpPr>
          <p:cNvPr id="3" name="Magic intro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Methods with double underscores (dunder) that Python calls for you when you use normal syntax on an object.</a:t>
            </a:r>
            <a:endParaRPr lang="en-US" sz="1400" dirty="0"/>
          </a:p>
        </p:txBody>
      </p:sp>
      <p:graphicFrame>
        <p:nvGraphicFramePr>
          <p:cNvPr id="10" name="Magi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Triggered by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Real use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__init__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Animal("Bruno", 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 up a new object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__str__ / __repr__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print(obj) / debugging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Readable logs and output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__eq__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== 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Compare two orders or users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__len__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len(obj)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Size of a cart or playlist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__add__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+ 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vectors, money, matrices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Packages: our own library</a:t>
            </a:r>
            <a:endParaRPr lang="en-US" sz="3200" dirty="0"/>
          </a:p>
        </p:txBody>
      </p:sp>
      <p:sp>
        <p:nvSpPr>
          <p:cNvPr id="3" name="Package tree bg"/>
          <p:cNvSpPr/>
          <p:nvPr/>
        </p:nvSpPr>
        <p:spPr>
          <a:xfrm>
            <a:off x="457200" y="1188720"/>
            <a:ext cx="3474720" cy="246888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ackage tree"/>
          <p:cNvSpPr txBox="1"/>
          <p:nvPr/>
        </p:nvSpPr>
        <p:spPr>
          <a:xfrm>
            <a:off x="594360" y="12801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python_dummy_project/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use_package.py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shapes/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__init__.py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rectangle.py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use_package.py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shapes import circle_area</a:t>
            </a:r>
            <a:endParaRPr lang="en-US" sz="1200" dirty="0"/>
          </a:p>
        </p:txBody>
      </p:sp>
      <p:sp>
        <p:nvSpPr>
          <p:cNvPr id="5" name="Pkg head"/>
          <p:cNvSpPr txBox="1"/>
          <p:nvPr/>
        </p:nvSpPr>
        <p:spPr>
          <a:xfrm>
            <a:off x="429768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Definition</a:t>
            </a:r>
            <a:endParaRPr lang="en-US" sz="1800" dirty="0"/>
          </a:p>
        </p:txBody>
      </p:sp>
      <p:sp>
        <p:nvSpPr>
          <p:cNvPr id="6" name="Pkg text"/>
          <p:cNvSpPr txBox="1"/>
          <p:nvPr/>
        </p:nvSpPr>
        <p:spPr>
          <a:xfrm>
            <a:off x="4297680" y="1554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package is a folder of modules with an __init__.py file. It lets you group related code and import it by name.</a:t>
            </a:r>
            <a:endParaRPr lang="en-US" sz="1400" dirty="0"/>
          </a:p>
        </p:txBody>
      </p:sp>
      <p:sp>
        <p:nvSpPr>
          <p:cNvPr id="7" name="Pkg use head"/>
          <p:cNvSpPr txBox="1"/>
          <p:nvPr/>
        </p:nvSpPr>
        <p:spPr>
          <a:xfrm>
            <a:off x="429768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it is used</a:t>
            </a:r>
            <a:endParaRPr lang="en-US" sz="1800" dirty="0"/>
          </a:p>
        </p:txBody>
      </p:sp>
      <p:sp>
        <p:nvSpPr>
          <p:cNvPr id="8" name="Pkg bullets"/>
          <p:cNvSpPr txBox="1"/>
          <p:nvPr/>
        </p:nvSpPr>
        <p:spPr>
          <a:xfrm>
            <a:off x="4297680" y="30632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numpy, pandas, requests are packages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Teams share internal code as packages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pip install fetches them from PyPI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ap title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4000" dirty="0"/>
          </a:p>
        </p:txBody>
      </p:sp>
      <p:sp>
        <p:nvSpPr>
          <p:cNvPr id="3" name="Recap 1 circle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Recap 1 num"/>
          <p:cNvSpPr txBox="1"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Recap text 1"/>
          <p:cNvSpPr txBox="1"/>
          <p:nvPr/>
        </p:nvSpPr>
        <p:spPr>
          <a:xfrm>
            <a:off x="1280160" y="1600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Data types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hold values</a:t>
            </a:r>
            <a:endParaRPr lang="en-US" sz="2200" dirty="0"/>
          </a:p>
        </p:txBody>
      </p:sp>
      <p:sp>
        <p:nvSpPr>
          <p:cNvPr id="6" name="Recap 2 circle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Recap 2 num"/>
          <p:cNvSpPr txBox="1"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Recap text 2"/>
          <p:cNvSpPr txBox="1"/>
          <p:nvPr/>
        </p:nvSpPr>
        <p:spPr>
          <a:xfrm>
            <a:off x="128016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Functions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reuse logic</a:t>
            </a:r>
            <a:endParaRPr lang="en-US" sz="2200" dirty="0"/>
          </a:p>
        </p:txBody>
      </p:sp>
      <p:sp>
        <p:nvSpPr>
          <p:cNvPr id="9" name="Recap 3 circle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ecap 3 num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Recap text 3"/>
          <p:cNvSpPr txBox="1"/>
          <p:nvPr/>
        </p:nvSpPr>
        <p:spPr>
          <a:xfrm>
            <a:off x="1280160" y="3154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Classes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model things</a:t>
            </a:r>
            <a:endParaRPr lang="en-US" sz="2200" dirty="0"/>
          </a:p>
        </p:txBody>
      </p:sp>
      <p:sp>
        <p:nvSpPr>
          <p:cNvPr id="12" name="Recap 4 circle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Recap 4 num"/>
          <p:cNvSpPr txBox="1"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Recap text 4"/>
          <p:cNvSpPr txBox="1"/>
          <p:nvPr/>
        </p:nvSpPr>
        <p:spPr>
          <a:xfrm>
            <a:off x="1280160" y="3931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Packages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organise code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Basics">
  <a:themeElements>
    <a:clrScheme name="PythonBasics">
      <a:dk1>
        <a:srgbClr val="17202A"/>
      </a:dk1>
      <a:lt1>
        <a:srgbClr val="FFFFFF"/>
      </a:lt1>
      <a:dk2>
        <a:srgbClr val="306998"/>
      </a:dk2>
      <a:lt2>
        <a:srgbClr val="EEF3F8"/>
      </a:lt2>
      <a:accent1>
        <a:srgbClr val="306998"/>
      </a:accent1>
      <a:accent2>
        <a:srgbClr val="FFD43B"/>
      </a:accent2>
      <a:accent3>
        <a:srgbClr val="4B8BBE"/>
      </a:accent3>
      <a:accent4>
        <a:srgbClr val="2E7D5B"/>
      </a:accent4>
      <a:accent5>
        <a:srgbClr val="C0504D"/>
      </a:accent5>
      <a:accent6>
        <a:srgbClr val="6B7A8F"/>
      </a:accent6>
      <a:hlink>
        <a:srgbClr val="306998"/>
      </a:hlink>
      <a:folHlink>
        <a:srgbClr val="6B7A8F"/>
      </a:folHlink>
    </a:clrScheme>
    <a:fontScheme name="PythonBas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Basics: Project Walkthrough</dc:title>
  <dc:subject>PptxGenJS Presentation</dc:subject>
  <dc:creator>PptxGenJS</dc:creator>
  <cp:lastModifiedBy>PptxGenJS</cp:lastModifiedBy>
  <cp:revision>1</cp:revision>
  <dcterms:created xsi:type="dcterms:W3CDTF">2026-10-18T12:13:52Z</dcterms:created>
  <dcterms:modified xsi:type="dcterms:W3CDTF">2026-10-18T12:13:52Z</dcterms:modified>
</cp:coreProperties>
</file>